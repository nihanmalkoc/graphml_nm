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15568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16736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17904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9072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5568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16736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17904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19072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12070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6C4B2"/>
                </a:solidFill>
                <a:latin typeface="Consolas"/>
              </a:rPr>
              <a:t>IAAC · MaCAD  |  Digital tools for Graph Machine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120700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BUILDINGS AS GRAPHS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377440"/>
            <a:ext cx="822960" cy="635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1965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7C4A0"/>
                </a:solidFill>
                <a:latin typeface="Consolas"/>
              </a:rPr>
              <a:t>FINAL ASSIGNMENT · G05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542032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Montserrat"/>
              </a:rPr>
              <a:t>The Interlace</a:t>
            </a:r>
          </a:p>
          <a:p>
            <a:pPr algn="l">
              <a:lnSpc>
                <a:spcPct val="100000"/>
              </a:lnSpc>
            </a:pPr>
            <a:r>
              <a:rPr sz="3000" b="0">
                <a:solidFill>
                  <a:srgbClr val="A7C4A0"/>
                </a:solidFill>
                <a:latin typeface="Montserrat"/>
              </a:rPr>
              <a:t>Graph Machine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526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4B2"/>
                </a:solidFill>
                <a:latin typeface="Montserrat"/>
              </a:rPr>
              <a:t>A graph-based analysis &amp; node-classification pipeline for architectural floor plans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0292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EE8"/>
                </a:solidFill>
                <a:latin typeface="Montserrat"/>
              </a:rPr>
              <a:t>Nihan Malkoç  ·  Sushmitha Ravi  ·  Tue Minh (Chloe)  ·  Zeynep Sezen Dursun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486400"/>
            <a:ext cx="502920" cy="38100"/>
          </a:xfrm>
          <a:prstGeom prst="rect">
            <a:avLst/>
          </a:prstGeom>
          <a:solidFill>
            <a:srgbClr val="445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623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88A"/>
                </a:solidFill>
                <a:latin typeface="Consolas"/>
              </a:rPr>
              <a:t>Faculties:  </a:t>
            </a:r>
            <a:r>
              <a:rPr sz="1200" b="0">
                <a:solidFill>
                  <a:srgbClr val="B6C4B2"/>
                </a:solidFill>
                <a:latin typeface="Montserrat"/>
              </a:rPr>
              <a:t>Wassim Jabi  |  Olga Poletkina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88A"/>
                </a:solidFill>
                <a:latin typeface="Consolas"/>
              </a:rPr>
              <a:t>Dataset: Modified Swiss Dwellings (MSD)   ·   Tools: TopologicPy + PyTorch Geometric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8869680" y="2060829"/>
            <a:ext cx="979322" cy="408051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49002" y="2060829"/>
            <a:ext cx="734492" cy="897712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85782" y="2958541"/>
            <a:ext cx="897712" cy="571271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8706459" y="3284982"/>
            <a:ext cx="979323" cy="244830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706459" y="2468880"/>
            <a:ext cx="163221" cy="816102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583494" y="2958541"/>
            <a:ext cx="408051" cy="816102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85782" y="3529812"/>
            <a:ext cx="1305763" cy="244831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869680" y="1571167"/>
            <a:ext cx="489661" cy="897713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744864" y="2344064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24186" y="1936013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458678" y="2833725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560966" y="3404996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581643" y="3160166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866729" y="3649827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34525" y="1446351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01 / G05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Agenda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01  Introduction &amp; Objective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02  Dataset &amp; Reference Research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03  Methodology — Floor Plan to Graph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04  Spatial / Graph Analysis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05  Node Classification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06  Discussion &amp; 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02 / G05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55448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33453A"/>
                </a:solidFill>
                <a:latin typeface="Montserrat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703320"/>
            <a:ext cx="822960" cy="635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Introduction &amp;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63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4B2"/>
                </a:solidFill>
                <a:latin typeface="Montserrat"/>
              </a:rPr>
              <a:t>What we build and why The Interlace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3604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37215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38383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39551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40719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4188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3604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37215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838383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039551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40719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188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03 / G05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INTRODUCTION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Project Objective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Build a graph-based analysis &amp; learning pipeline for architectural floor plans.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Recreate a multi-apartment floor plan, represent it as a graph, analyze spatial organization.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Run node classification (predict room type) with a GraphSAGE model.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Goal: understanding &amp; interpretation — not perfect model accuracy.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Case study: The Interlace (Singapore) — floors 3 &amp; 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04 / G05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INTRODUCTION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Why The Interlace?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Multi-apartment residential complex — many units in clusters (mirrors MSD).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Interconnected blocks + courtyards → rich spatial relationships.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Strong circulation: shared corridors, vertical cores, communal spaces.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Diverse space types → ideal for node classification &amp; centrality analysis.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IMAGE: The Interlace photo / massing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05 / G05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55448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33453A"/>
                </a:solidFill>
                <a:latin typeface="Montserrat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703320"/>
            <a:ext cx="822960" cy="635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Dataset &amp; Reference 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63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4B2"/>
                </a:solidFill>
                <a:latin typeface="Montserrat"/>
              </a:rPr>
              <a:t>Modified Swiss Dwellings + papers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3604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37215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38383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39551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40719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4188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3604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37215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838383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039551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40719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188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06 / G05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Modified Swiss Dwellings (MSD)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~5,372 floor plans of medium–large building complexes; 18.9k apartments.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Each plan in 3 modalities: raster image, vector geometry, graph.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Areas (rooms), separators (walls), openings (doors/windows).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Node attributes: centroid, geometry (polygon), roomtype, zonetype.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Connectivity types: passage, door, front door.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IMAGE: MSD sample plan + access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07 / G05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Reference Papers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Paper 1 — MSD: A Benchmark Dataset for Floor Plan Generation of Building Complexes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Multi-apartment focus; access-graph representation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Room-type vs zone-type categories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Standard splits for benchmarking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659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Paper 2 — GNNs for Node Classification &amp; Attribute Allocation in Architectural BIM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Rooms as nodes, adjacency as edges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GNN predicts room / element attributes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Motivates our GraphSAGE node-classifier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08 / G05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How Floor Plans Are Represented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Node = room (area). Position = polygon centroid.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9 room-type classes: Bedroom, Bathroom, Corridor, Balcony, Kitchen, Livingroom, Stairs, Storeroom, Dining.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4 zone types: private (Z1), public (Z2), service (Z3), outside (Z4).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Edge = adjacency / access between rooms.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Graph attributes feed graph-based learning.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DIAGRAM: plan → nodes(rooms) + edges(adjacency)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09 / G05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55448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33453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703320"/>
            <a:ext cx="822960" cy="635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Methodology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63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4B2"/>
                </a:solidFill>
                <a:latin typeface="Montserrat"/>
              </a:rPr>
              <a:t>From floor plan to graph with TopologicPy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3604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37215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38383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39551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40719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4188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3604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37215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838383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039551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40719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188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10 / G05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Pipeline Overview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1965960"/>
            <a:ext cx="10789920" cy="416052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DIAGRAM: Rhino (OBJ per layer) → TopologicPy graph → nodes/edges/graphs.csv → PyG GraphSAGE →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11 / G05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Recreated Floor Plan — The Interlace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Floors 3 &amp; 4 recreated in Rhino, following MSD logic (not an exact copy).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Each room type on its own layer → exported separately as OBJ.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Rooms, apartments, corridors, cores, balconies, courtyards.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recreated floor plan (Rhino)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12 / G05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Graph Construction (TopologicPy)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Import OBJ layers → tag each room with its type.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Rooms → nodes (centroid); shared walls → edges (adjacency).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Same node/edge schema &amp; attributes as the MSD reference.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Export to graphs.csv / nodes.csv / edges.csv.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TopologicPy graph over the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13 / G05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Node Features &amp; Class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Node features (geometry, no label leakage):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feat_0  area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feat_1  perimeter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feat_2  compactness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feat_3  number of corners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feat_4  bounding-box aspect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feat_5  rectangularity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659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Target label — roomtype (0–8):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0 Bedroom    1 Bathroom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2 Corridor   3 Balcony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4 Kitchen    5 Livingroom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6 Stairs     7 Storeroom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8 Dining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+ Layer → class mapping table (Interlace).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14 / G05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55448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33453A"/>
                </a:solidFill>
                <a:latin typeface="Montserrat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703320"/>
            <a:ext cx="822960" cy="635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Spatial / Graph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63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4B2"/>
                </a:solidFill>
                <a:latin typeface="Montserrat"/>
              </a:rPr>
              <a:t>What the metrics reveal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3604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37215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38383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39551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40719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4188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3604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37215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838383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039551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40719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188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15 / G05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Analysis Overview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Compute classic graph metrics on the floor-plan graph (as in Assignment 2).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Degree centrality · Closeness centrality · Clustering coefficient · Shortest paths.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Interpret: accessibility, circulation, apartment organization, spatial hierarchy, connectivity.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16 / G05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Degree Centrality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Highly connected rooms = circulation hubs (corridors, lobbies).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Interpretation: [fill in]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degree-centrality graph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17 / G05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Closeness Centrality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How easily a room reaches all others → accessibility.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Interpretation: [fill in]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closeness-centrality graph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18 / G05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Clustering Coefficient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Local grouping → apartment clusters / units.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Interpretation: [fill in]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clustering visualization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19 / G05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Shortest Paths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Circulation routes &amp; distances between units / cores.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Interpretation: [fill in]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shortest-path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20 / G05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Interpretation — Spatial Reading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Accessibility &amp; circulation: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[which rooms are hubs]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[core / corridor role]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Apartment organization: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[clusters per unit]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659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Spatial hierarchy: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[public vs private]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Connectivity between units: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[how units link via shared spaces]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21 / G05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55448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33453A"/>
                </a:solidFill>
                <a:latin typeface="Montserrat"/>
              </a:rPr>
              <a:t>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703320"/>
            <a:ext cx="822960" cy="635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Node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63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4B2"/>
                </a:solidFill>
                <a:latin typeface="Montserrat"/>
              </a:rPr>
              <a:t>Predicting room types with GraphSAGE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3604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37215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38383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39551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40719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4188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3604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37215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838383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039551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40719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188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22 / G05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Node Classification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Model: GraphSAGE node classifier (topologicpy.PyG), trained on MSD.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Input: node features + graph adjacency; output: room-type class (0–8).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Apply trained model to The Interlace graph → predict each room.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Evaluate predictions, not chase perfect accuracy.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DIAGRAM: GraphSAGE node-classification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23 / G05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Training Results (MSD)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Train / val / test on MSD floor-plan graphs.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Report accuracy / per-class metrics.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Confusion matrix → which room types get confused.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training curves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11480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confusion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24 / G05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Predictions on The Interlace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Predicted vs actual room type per node.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Correct vs incorrect predictions highlighted.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predicted graph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11480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actual (ground-truth) 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25 / G05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Do Predictions Make Spatial Sense?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Where does the model succeed / fail, and why?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Are errors spatially reasonable (e.g., bedroom ↔ studio)?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Role of geometry vs neighborhood in the prediction.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65960"/>
            <a:ext cx="5120640" cy="1920240"/>
          </a:xfrm>
          <a:prstGeom prst="roundRect">
            <a:avLst/>
          </a:prstGeom>
          <a:solidFill>
            <a:srgbClr val="E6EDE2"/>
          </a:solidFill>
          <a:ln w="15875">
            <a:solidFill>
              <a:srgbClr val="6FA3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C7A48"/>
                </a:solidFill>
                <a:latin typeface="Consolas"/>
              </a:rPr>
              <a:t>▤  OUTPUT: error-analysis highlight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26 / G05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55448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33453A"/>
                </a:solidFill>
                <a:latin typeface="Montserrat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703320"/>
            <a:ext cx="822960" cy="635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Discussion &amp; 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63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4B2"/>
                </a:solidFill>
                <a:latin typeface="Montserrat"/>
              </a:rPr>
              <a:t>Limitations, improvements,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3604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37215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38383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39551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40719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41887" y="5760720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3604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37215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838383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039551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40719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41887" y="5961888"/>
            <a:ext cx="45720" cy="45720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27 / G05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Limitations &amp; Improvements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Limitations: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Domain gap: MSD (CH dwellings) vs The Interlace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Recreated plan ≠ exact building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Class imbalance (e.g., Dining rare)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Adjacency definition simplifications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659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600" b="0">
                <a:solidFill>
                  <a:srgbClr val="232A25"/>
                </a:solidFill>
                <a:latin typeface="Montserrat"/>
              </a:rPr>
              <a:t>Improvements: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More / richer node features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Fine-tune on similar typologies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Add door / access edges, not just adjacency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500" b="0">
                <a:solidFill>
                  <a:srgbClr val="5E6B5C"/>
                </a:solidFill>
                <a:latin typeface="Consolas"/>
              </a:rPr>
              <a:t>·  </a:t>
            </a:r>
            <a:r>
              <a:rPr sz="1500" b="0">
                <a:solidFill>
                  <a:srgbClr val="5E6B5C"/>
                </a:solidFill>
                <a:latin typeface="Montserrat"/>
              </a:rPr>
              <a:t>Multi-floor (3D)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28 / G05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CB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C7A48"/>
                </a:solidFill>
                <a:latin typeface="Consolas"/>
              </a:rPr>
              <a:t>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68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A25"/>
                </a:solidFill>
                <a:latin typeface="Montserrat"/>
              </a:rPr>
              <a:t>Conclusion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1572768"/>
            <a:ext cx="640080" cy="508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96596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Graph representation makes spatial structure explicit and analyzable.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Centrality &amp; clustering reveal circulation and apartment organization.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GraphSAGE can infer room types from geometry + topology.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6FA36B"/>
                </a:solidFill>
                <a:latin typeface="Consolas"/>
              </a:rPr>
              <a:t>▪  </a:t>
            </a:r>
            <a:r>
              <a:rPr sz="1700" b="0">
                <a:solidFill>
                  <a:srgbClr val="232A25"/>
                </a:solidFill>
                <a:latin typeface="Montserrat"/>
              </a:rPr>
              <a:t>The Interlace is a strong, legible case study for graph learning.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29 / G05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100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06479" y="292608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6479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8971" y="292608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06479" y="565100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5100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06479" y="6272784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6479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8971" y="6272784"/>
            <a:ext cx="20116" cy="292608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06479" y="6545276"/>
            <a:ext cx="292608" cy="20116"/>
          </a:xfrm>
          <a:prstGeom prst="rect">
            <a:avLst/>
          </a:prstGeom>
          <a:solidFill>
            <a:srgbClr val="33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15568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16736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17904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9072" y="713232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5568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16736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17904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19072" y="914400"/>
            <a:ext cx="45720" cy="4572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2743200"/>
            <a:ext cx="822960" cy="63500"/>
          </a:xfrm>
          <a:prstGeom prst="rect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28803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7C4A0"/>
                </a:solidFill>
                <a:latin typeface="Montserrat"/>
              </a:rPr>
              <a:t>Questions &amp; discussion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88A"/>
                </a:solidFill>
                <a:latin typeface="Consolas"/>
              </a:rPr>
              <a:t>References: MSD (van Engelenburg et al., ECCV 2024) · GNNs for Node Classification in BIM · TopologicPy · PyTorch Geometric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8869680" y="1786509"/>
            <a:ext cx="979322" cy="408051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849002" y="1786509"/>
            <a:ext cx="734492" cy="897712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685782" y="2684221"/>
            <a:ext cx="897712" cy="571271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8706459" y="3010662"/>
            <a:ext cx="979323" cy="244830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06459" y="2194560"/>
            <a:ext cx="163221" cy="816102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583494" y="2684221"/>
            <a:ext cx="408051" cy="816102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85782" y="3255492"/>
            <a:ext cx="1305763" cy="244831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869680" y="1296847"/>
            <a:ext cx="489661" cy="897713"/>
          </a:xfrm>
          <a:prstGeom prst="bentConnector3">
            <a:avLst/>
          </a:prstGeom>
          <a:ln w="15875">
            <a:solidFill>
              <a:srgbClr val="445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744864" y="2069744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24186" y="1661693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58678" y="2559405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560966" y="3130676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81643" y="2885846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866729" y="3375507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34525" y="1172031"/>
            <a:ext cx="249631" cy="249631"/>
          </a:xfrm>
          <a:prstGeom prst="ellipse">
            <a:avLst/>
          </a:prstGeom>
          <a:solidFill>
            <a:srgbClr val="6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THE INTERLACE  ×  GRAPH ML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190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88A"/>
                </a:solidFill>
                <a:latin typeface="Consolas"/>
              </a:rPr>
              <a:t>30 / G05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